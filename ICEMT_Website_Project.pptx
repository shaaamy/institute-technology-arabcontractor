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296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audio" Target="../media/audio1.wav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audio" Target="../media/audio1.wav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1.wav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audio" Target="../media/audio1.wav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4A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675120" y="-548640"/>
            <a:ext cx="3474720" cy="3474720"/>
          </a:xfrm>
          <a:prstGeom prst="ellipse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0" y="2560320"/>
            <a:ext cx="2286000" cy="2286000"/>
          </a:xfrm>
          <a:prstGeom prst="ellipse">
            <a:avLst/>
          </a:prstGeom>
          <a:solidFill>
            <a:srgbClr val="063D6B"/>
          </a:solidFill>
          <a:ln w="12700">
            <a:solidFill>
              <a:srgbClr val="063D6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11480" y="365760"/>
            <a:ext cx="2651760" cy="32918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1480" y="3657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WEBSITE DEVELOPMENT PROJECT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84124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800" b="1" dirty="0">
                <a:solidFill>
                  <a:srgbClr val="F57C00"/>
                </a:solidFill>
              </a:rPr>
              <a:t>المعهد التكنولوجى لهندسة التشييد والإدارة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</a:rPr>
              <a:t>Institute of Construction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</a:rPr>
              <a:t>Engineering &amp; Management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0CCE8"/>
                </a:solidFill>
              </a:rPr>
              <a:t>Online Training Platform — Project Overview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44348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1978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090"/>
                </a:solidFill>
              </a:rPr>
              <a:t>Founded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20240" y="4498848"/>
            <a:ext cx="0" cy="502920"/>
          </a:xfrm>
          <a:prstGeom prst="line">
            <a:avLst/>
          </a:prstGeom>
          <a:noFill/>
          <a:ln w="10160">
            <a:solidFill>
              <a:srgbClr val="F590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84832" y="44348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40+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84832" y="48006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090"/>
                </a:solidFill>
              </a:rPr>
              <a:t>Years Active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39312" y="4498848"/>
            <a:ext cx="0" cy="502920"/>
          </a:xfrm>
          <a:prstGeom prst="line">
            <a:avLst/>
          </a:prstGeom>
          <a:noFill/>
          <a:ln w="10160">
            <a:solidFill>
              <a:srgbClr val="F590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03904" y="44348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176K+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03904" y="48006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090"/>
                </a:solidFill>
              </a:rPr>
              <a:t>Total Trainees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58384" y="4498848"/>
            <a:ext cx="0" cy="502920"/>
          </a:xfrm>
          <a:prstGeom prst="line">
            <a:avLst/>
          </a:prstGeom>
          <a:noFill/>
          <a:ln w="10160">
            <a:solidFill>
              <a:srgbClr val="F590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22976" y="44348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60+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522976" y="48006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090"/>
                </a:solidFill>
              </a:rPr>
              <a:t>Clients Served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077456" y="4498848"/>
            <a:ext cx="0" cy="502920"/>
          </a:xfrm>
          <a:prstGeom prst="line">
            <a:avLst/>
          </a:prstGeom>
          <a:noFill/>
          <a:ln w="10160">
            <a:solidFill>
              <a:srgbClr val="F590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42048" y="44348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2500+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42048" y="48006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090"/>
                </a:solidFill>
              </a:rPr>
              <a:t>Training Materials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4160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9FB3D0"/>
                </a:solidFill>
              </a:rPr>
              <a:t>Team: Amr Mohamed Shamy  •  Eng.Yasmina Maged •  Mohamed Abd El-Mawla  •  Samir Yousri •  Ahmed Taha |     Supervisors: Eng.Abeer Naguib  •  Mahmoud Salah   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943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Platform Features &amp; Modules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B8D4F0"/>
                </a:solidFill>
              </a:rPr>
              <a:t>What the new website delivers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2834640" cy="16276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EF0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6032" y="1078992"/>
            <a:ext cx="64008" cy="162763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2336" y="1261872"/>
            <a:ext cx="502920" cy="502920"/>
          </a:xfrm>
          <a:prstGeom prst="ellipse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" y="1321308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1234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65A8"/>
                </a:solidFill>
              </a:rPr>
              <a:t>Training Courses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87552" y="1581912"/>
            <a:ext cx="202996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3D3D3D"/>
                </a:solidFill>
              </a:rPr>
              <a:t>Browse, purchase &amp; attend courses online or in-person. Includes all institute programs.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3273552" y="1078992"/>
            <a:ext cx="2834640" cy="16276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EF0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273552" y="1078992"/>
            <a:ext cx="64008" cy="162763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419856" y="1261872"/>
            <a:ext cx="502920" cy="502920"/>
          </a:xfrm>
          <a:prstGeom prst="ellipse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292" y="132130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05072" y="1234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65A8"/>
                </a:solidFill>
              </a:rPr>
              <a:t>Online Payment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005072" y="1581912"/>
            <a:ext cx="202996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3D3D3D"/>
                </a:solidFill>
              </a:rPr>
              <a:t>Secure Bank Misr gateway integration with refund approval management by admin.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6291072" y="1078992"/>
            <a:ext cx="2834640" cy="16276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EF0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6291072" y="1078992"/>
            <a:ext cx="64008" cy="162763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hape 17"/>
          <p:cNvSpPr/>
          <p:nvPr/>
        </p:nvSpPr>
        <p:spPr>
          <a:xfrm>
            <a:off x="6437376" y="1261872"/>
            <a:ext cx="502920" cy="502920"/>
          </a:xfrm>
          <a:prstGeom prst="ellipse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812" y="1321308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22592" y="1234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65A8"/>
                </a:solidFill>
              </a:rPr>
              <a:t>Digital Certificates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7022592" y="1581912"/>
            <a:ext cx="202996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3D3D3D"/>
                </a:solidFill>
              </a:rPr>
              <a:t>Auto-issued after course completion; students can download directly from their profile.</a:t>
            </a:r>
            <a:endParaRPr lang="en-US" sz="920" dirty="0"/>
          </a:p>
        </p:txBody>
      </p:sp>
      <p:sp>
        <p:nvSpPr>
          <p:cNvPr id="25" name="Shape 20"/>
          <p:cNvSpPr/>
          <p:nvPr/>
        </p:nvSpPr>
        <p:spPr>
          <a:xfrm>
            <a:off x="256032" y="2834640"/>
            <a:ext cx="2834640" cy="16276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EF0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/>
          <p:cNvSpPr/>
          <p:nvPr/>
        </p:nvSpPr>
        <p:spPr>
          <a:xfrm>
            <a:off x="256032" y="2834640"/>
            <a:ext cx="64008" cy="162763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Shape 22"/>
          <p:cNvSpPr/>
          <p:nvPr/>
        </p:nvSpPr>
        <p:spPr>
          <a:xfrm>
            <a:off x="402336" y="3017520"/>
            <a:ext cx="502920" cy="502920"/>
          </a:xfrm>
          <a:prstGeom prst="ellipse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" y="3076956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87552" y="2990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65A8"/>
                </a:solidFill>
              </a:rPr>
              <a:t>Library &amp; Media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987552" y="3337560"/>
            <a:ext cx="202996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3D3D3D"/>
                </a:solidFill>
              </a:rPr>
              <a:t>E-library, 2500+ scientific materials, photo/video gallery, news &amp; monthly reports.</a:t>
            </a:r>
            <a:endParaRPr lang="en-US" sz="920" dirty="0"/>
          </a:p>
        </p:txBody>
      </p:sp>
      <p:sp>
        <p:nvSpPr>
          <p:cNvPr id="31" name="Shape 25"/>
          <p:cNvSpPr/>
          <p:nvPr/>
        </p:nvSpPr>
        <p:spPr>
          <a:xfrm>
            <a:off x="3273552" y="2834640"/>
            <a:ext cx="2834640" cy="16276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EF0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Shape 26"/>
          <p:cNvSpPr/>
          <p:nvPr/>
        </p:nvSpPr>
        <p:spPr>
          <a:xfrm>
            <a:off x="3273552" y="2834640"/>
            <a:ext cx="64008" cy="162763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Shape 27"/>
          <p:cNvSpPr/>
          <p:nvPr/>
        </p:nvSpPr>
        <p:spPr>
          <a:xfrm>
            <a:off x="3419856" y="3017520"/>
            <a:ext cx="502920" cy="502920"/>
          </a:xfrm>
          <a:prstGeom prst="ellipse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9292" y="3076956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005072" y="2990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65A8"/>
                </a:solidFill>
              </a:rPr>
              <a:t>Technical School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4005072" y="3337560"/>
            <a:ext cx="202996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3D3D3D"/>
                </a:solidFill>
              </a:rPr>
              <a:t>Arab Contractors Secondary School — dual system technical education &amp; training programs.</a:t>
            </a:r>
            <a:endParaRPr lang="en-US" sz="920" dirty="0"/>
          </a:p>
        </p:txBody>
      </p:sp>
      <p:sp>
        <p:nvSpPr>
          <p:cNvPr id="37" name="Shape 30"/>
          <p:cNvSpPr/>
          <p:nvPr/>
        </p:nvSpPr>
        <p:spPr>
          <a:xfrm>
            <a:off x="6291072" y="2834640"/>
            <a:ext cx="2834640" cy="16276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EF0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8" name="Shape 31"/>
          <p:cNvSpPr/>
          <p:nvPr/>
        </p:nvSpPr>
        <p:spPr>
          <a:xfrm>
            <a:off x="6291072" y="2834640"/>
            <a:ext cx="64008" cy="162763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Shape 32"/>
          <p:cNvSpPr/>
          <p:nvPr/>
        </p:nvSpPr>
        <p:spPr>
          <a:xfrm>
            <a:off x="6437376" y="3017520"/>
            <a:ext cx="502920" cy="502920"/>
          </a:xfrm>
          <a:prstGeom prst="ellipse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6812" y="3076956"/>
            <a:ext cx="365760" cy="36576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022592" y="2990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65A8"/>
                </a:solidFill>
              </a:rPr>
              <a:t>Admin Dashboard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7022592" y="3337560"/>
            <a:ext cx="202996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3D3D3D"/>
                </a:solidFill>
              </a:rPr>
              <a:t>Manage users, courses, attendance, payments, refunds, certificates &amp; institute content.</a:t>
            </a:r>
            <a:endParaRPr lang="en-US" sz="9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10" name="arrow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4A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Technology Stack  &amp;  User Roles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57C00"/>
                </a:solidFill>
              </a:rPr>
              <a:t>Built with modern architecture  •  Two system roles: Student and Admin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4114800" cy="411480"/>
          </a:xfrm>
          <a:prstGeom prst="rect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64008" cy="4114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7472" y="1078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581912"/>
            <a:ext cx="4114800" cy="438912"/>
          </a:xfrm>
          <a:prstGeom prst="rect">
            <a:avLst/>
          </a:prstGeom>
          <a:solidFill>
            <a:srgbClr val="05396E"/>
          </a:solidFill>
          <a:ln w="12700">
            <a:solidFill>
              <a:srgbClr val="1A5A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6032" y="1581912"/>
            <a:ext cx="822960" cy="43891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6032" y="158191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Backend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" y="1581912"/>
            <a:ext cx="3127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EF5"/>
                </a:solidFill>
              </a:rPr>
              <a:t>ASP.NET Core Web API  +  EF Core  +  JWT Identity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075688"/>
            <a:ext cx="4114800" cy="438912"/>
          </a:xfrm>
          <a:prstGeom prst="rect">
            <a:avLst/>
          </a:prstGeom>
          <a:solidFill>
            <a:srgbClr val="063D6B"/>
          </a:solidFill>
          <a:ln w="12700">
            <a:solidFill>
              <a:srgbClr val="1A5A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6032" y="2075688"/>
            <a:ext cx="822960" cy="43891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6032" y="207568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" y="2075688"/>
            <a:ext cx="3127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EF5"/>
                </a:solidFill>
              </a:rPr>
              <a:t>React.js (SPA)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569464"/>
            <a:ext cx="4114800" cy="438912"/>
          </a:xfrm>
          <a:prstGeom prst="rect">
            <a:avLst/>
          </a:prstGeom>
          <a:solidFill>
            <a:srgbClr val="05396E"/>
          </a:solidFill>
          <a:ln w="12700">
            <a:solidFill>
              <a:srgbClr val="1A5A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56032" y="2569464"/>
            <a:ext cx="822960" cy="43891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6032" y="25694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Database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" y="2569464"/>
            <a:ext cx="3127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EF5"/>
                </a:solidFill>
              </a:rPr>
              <a:t>SQL Server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063240"/>
            <a:ext cx="4114800" cy="438912"/>
          </a:xfrm>
          <a:prstGeom prst="rect">
            <a:avLst/>
          </a:prstGeom>
          <a:solidFill>
            <a:srgbClr val="063D6B"/>
          </a:solidFill>
          <a:ln w="12700">
            <a:solidFill>
              <a:srgbClr val="1A5A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56032" y="3063240"/>
            <a:ext cx="822960" cy="43891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6032" y="306324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Payment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" y="3063240"/>
            <a:ext cx="3127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EF5"/>
                </a:solidFill>
              </a:rPr>
              <a:t>Bank Misr Gateway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3557016"/>
            <a:ext cx="4114800" cy="438912"/>
          </a:xfrm>
          <a:prstGeom prst="rect">
            <a:avLst/>
          </a:prstGeom>
          <a:solidFill>
            <a:srgbClr val="05396E"/>
          </a:solidFill>
          <a:ln w="12700">
            <a:solidFill>
              <a:srgbClr val="1A5A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256032" y="3557016"/>
            <a:ext cx="822960" cy="43891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56032" y="355701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Hosting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" y="3557016"/>
            <a:ext cx="3127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EF5"/>
                </a:solidFill>
              </a:rPr>
              <a:t>Microsoft Azure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4050792"/>
            <a:ext cx="4114800" cy="438912"/>
          </a:xfrm>
          <a:prstGeom prst="rect">
            <a:avLst/>
          </a:prstGeom>
          <a:solidFill>
            <a:srgbClr val="063D6B"/>
          </a:solidFill>
          <a:ln w="12700">
            <a:solidFill>
              <a:srgbClr val="1A5A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256032" y="4050792"/>
            <a:ext cx="822960" cy="43891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56032" y="405079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" y="4050792"/>
            <a:ext cx="3127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EF5"/>
                </a:solidFill>
              </a:rPr>
              <a:t>JWT  +  Role-Based (Admin / Student)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7720" y="1078992"/>
            <a:ext cx="4251960" cy="4114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17720" y="1078992"/>
            <a:ext cx="64008" cy="411480"/>
          </a:xfrm>
          <a:prstGeom prst="rect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09160" y="1078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ROLES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1581912"/>
            <a:ext cx="4251960" cy="365760"/>
          </a:xfrm>
          <a:prstGeom prst="rect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609344"/>
            <a:ext cx="301752" cy="30175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029200" y="15819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STUDENT / USER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681728" y="1993392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5"/>
                </a:solidFill>
              </a:rPr>
              <a:t>Register &amp; manage personal profile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5"/>
                </a:solidFill>
              </a:rPr>
              <a:t>Buy &amp; attend courses (online or on-site)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5"/>
                </a:solidFill>
              </a:rPr>
              <a:t>Pay via Bank Misr &amp; request refunds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5"/>
                </a:solidFill>
              </a:rPr>
              <a:t>Download certificate after completion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5"/>
                </a:solidFill>
              </a:rPr>
              <a:t>Access library, news &amp; institute info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617720" y="3319272"/>
            <a:ext cx="4251960" cy="3657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346704"/>
            <a:ext cx="301752" cy="301752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029200" y="33192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ADMIN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4681728" y="3730752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5"/>
                </a:solidFill>
              </a:rPr>
              <a:t>Manage users, courses &amp; enrollments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5"/>
                </a:solidFill>
              </a:rPr>
              <a:t>Mark attendance &amp; issue certificates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5"/>
                </a:solidFill>
              </a:rPr>
              <a:t>Process refunds &amp; approve payments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5"/>
                </a:solidFill>
              </a:rPr>
              <a:t>Upload content, news &amp; media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5"/>
                </a:solidFill>
              </a:rPr>
              <a:t>Manage protocols, partners &amp; customers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Stack: ASP.NET Core  •  React.js  •  SQL Server  •  Bank Misr  •  Azure     |     Duration: 2 Months  •  Start: 25 Dec 2025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943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About the Institute &amp; Website Content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4069080" cy="402336"/>
          </a:xfrm>
          <a:prstGeom prst="rect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56032" y="1051560"/>
            <a:ext cx="64008" cy="40233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7472" y="1051560"/>
            <a:ext cx="3895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INSTITUTE HIGHLIGHTS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536192"/>
            <a:ext cx="1947672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C8DE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6032" y="1536192"/>
            <a:ext cx="54864" cy="9875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47472" y="1655064"/>
            <a:ext cx="402336" cy="402336"/>
          </a:xfrm>
          <a:prstGeom prst="ellipse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700784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16093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65A8"/>
                </a:solidFill>
              </a:rPr>
              <a:t>ISO 9001:2015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22960" y="1956816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D3D3D"/>
                </a:solidFill>
              </a:rPr>
              <a:t>Certified since 2000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D3D3D"/>
                </a:solidFill>
              </a:rPr>
              <a:t>PMI Accredited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304288" y="1536192"/>
            <a:ext cx="1947672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C8DE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2304288" y="1536192"/>
            <a:ext cx="54864" cy="9875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2395728" y="1655064"/>
            <a:ext cx="402336" cy="402336"/>
          </a:xfrm>
          <a:prstGeom prst="ellipse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592" y="1700784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871216" y="16093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65A8"/>
                </a:solidFill>
              </a:rPr>
              <a:t>Founded 1978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2871216" y="1956816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D3D3D"/>
                </a:solidFill>
              </a:rPr>
              <a:t>First in Middle East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D3D3D"/>
                </a:solidFill>
              </a:rPr>
              <a:t>to launch a training institute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256032" y="2670048"/>
            <a:ext cx="1947672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C8DE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Shape 18"/>
          <p:cNvSpPr/>
          <p:nvPr/>
        </p:nvSpPr>
        <p:spPr>
          <a:xfrm>
            <a:off x="256032" y="2670048"/>
            <a:ext cx="54864" cy="9875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347472" y="2788920"/>
            <a:ext cx="402336" cy="402336"/>
          </a:xfrm>
          <a:prstGeom prst="ellipse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2834640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2960" y="274320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65A8"/>
                </a:solidFill>
              </a:rPr>
              <a:t>176,418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22960" y="3090672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D3D3D"/>
                </a:solidFill>
              </a:rPr>
              <a:t>Total trainees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D3D3D"/>
                </a:solidFill>
              </a:rPr>
              <a:t>since founding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2304288" y="2670048"/>
            <a:ext cx="1947672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C8DE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Shape 23"/>
          <p:cNvSpPr/>
          <p:nvPr/>
        </p:nvSpPr>
        <p:spPr>
          <a:xfrm>
            <a:off x="2304288" y="2670048"/>
            <a:ext cx="54864" cy="9875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Shape 24"/>
          <p:cNvSpPr/>
          <p:nvPr/>
        </p:nvSpPr>
        <p:spPr>
          <a:xfrm>
            <a:off x="2395728" y="2788920"/>
            <a:ext cx="402336" cy="402336"/>
          </a:xfrm>
          <a:prstGeom prst="ellipse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0592" y="2834640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2871216" y="274320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65A8"/>
                </a:solidFill>
              </a:rPr>
              <a:t>60+ Clients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2871216" y="3090672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D3D3D"/>
                </a:solidFill>
              </a:rPr>
              <a:t>Ministries, universities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D3D3D"/>
                </a:solidFill>
              </a:rPr>
              <a:t>&amp; companies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256032" y="3749040"/>
            <a:ext cx="4069080" cy="3474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Shape 28"/>
          <p:cNvSpPr/>
          <p:nvPr/>
        </p:nvSpPr>
        <p:spPr>
          <a:xfrm>
            <a:off x="256032" y="3749040"/>
            <a:ext cx="64008" cy="347472"/>
          </a:xfrm>
          <a:prstGeom prst="rect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347472" y="3749040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WEBSITE SECTIONS (from live site)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320040" y="414223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D3D3D"/>
                </a:solidFill>
              </a:rPr>
              <a:t>About  •  Vision &amp; Goals  •  Certifications  •  Team  •  Instructors  •  Training Plan  •  Monthly Report  •  Media Library  •  Protocols  •  Clients  •  Training Programs  •  Technical School  •  Tests  •  Future Leaders Council  •  E-Library  •  News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4526280" y="1051560"/>
            <a:ext cx="4361688" cy="40233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Shape 32"/>
          <p:cNvSpPr/>
          <p:nvPr/>
        </p:nvSpPr>
        <p:spPr>
          <a:xfrm>
            <a:off x="4526280" y="1051560"/>
            <a:ext cx="64008" cy="402336"/>
          </a:xfrm>
          <a:prstGeom prst="rect">
            <a:avLst/>
          </a:prstGeom>
          <a:solidFill>
            <a:srgbClr val="0865A8"/>
          </a:solidFill>
          <a:ln w="1270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4617720" y="1051560"/>
            <a:ext cx="4187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CUSTOMERS (60+ clients)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4526280" y="1591056"/>
            <a:ext cx="1371600" cy="292608"/>
          </a:xfrm>
          <a:prstGeom prst="rect">
            <a:avLst/>
          </a:prstGeom>
          <a:solidFill>
            <a:srgbClr val="EAF2FA"/>
          </a:solidFill>
          <a:ln w="762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4562856" y="1591056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Cairo University</a:t>
            </a:r>
            <a:endParaRPr lang="en-US" sz="750" dirty="0"/>
          </a:p>
        </p:txBody>
      </p:sp>
      <p:sp>
        <p:nvSpPr>
          <p:cNvPr id="42" name="Shape 36"/>
          <p:cNvSpPr/>
          <p:nvPr/>
        </p:nvSpPr>
        <p:spPr>
          <a:xfrm>
            <a:off x="6007608" y="1591056"/>
            <a:ext cx="1371600" cy="292608"/>
          </a:xfrm>
          <a:prstGeom prst="rect">
            <a:avLst/>
          </a:prstGeom>
          <a:solidFill>
            <a:srgbClr val="EAF2FA"/>
          </a:solidFill>
          <a:ln w="762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6044184" y="1591056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Ain Shams University</a:t>
            </a:r>
            <a:endParaRPr lang="en-US" sz="750" dirty="0"/>
          </a:p>
        </p:txBody>
      </p:sp>
      <p:sp>
        <p:nvSpPr>
          <p:cNvPr id="44" name="Shape 38"/>
          <p:cNvSpPr/>
          <p:nvPr/>
        </p:nvSpPr>
        <p:spPr>
          <a:xfrm>
            <a:off x="7488936" y="1591056"/>
            <a:ext cx="1371600" cy="292608"/>
          </a:xfrm>
          <a:prstGeom prst="rect">
            <a:avLst/>
          </a:prstGeom>
          <a:solidFill>
            <a:srgbClr val="EAF2FA"/>
          </a:solidFill>
          <a:ln w="762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7525512" y="1591056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Helwan University</a:t>
            </a:r>
            <a:endParaRPr lang="en-US" sz="750" dirty="0"/>
          </a:p>
        </p:txBody>
      </p:sp>
      <p:sp>
        <p:nvSpPr>
          <p:cNvPr id="46" name="Shape 40"/>
          <p:cNvSpPr/>
          <p:nvPr/>
        </p:nvSpPr>
        <p:spPr>
          <a:xfrm>
            <a:off x="4526280" y="1993392"/>
            <a:ext cx="1371600" cy="292608"/>
          </a:xfrm>
          <a:prstGeom prst="rect">
            <a:avLst/>
          </a:prstGeom>
          <a:solidFill>
            <a:srgbClr val="EAF2FA"/>
          </a:solidFill>
          <a:ln w="762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4562856" y="199339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Mansoura University</a:t>
            </a:r>
            <a:endParaRPr lang="en-US" sz="750" dirty="0"/>
          </a:p>
        </p:txBody>
      </p:sp>
      <p:sp>
        <p:nvSpPr>
          <p:cNvPr id="48" name="Shape 42"/>
          <p:cNvSpPr/>
          <p:nvPr/>
        </p:nvSpPr>
        <p:spPr>
          <a:xfrm>
            <a:off x="6007608" y="1993392"/>
            <a:ext cx="1371600" cy="292608"/>
          </a:xfrm>
          <a:prstGeom prst="rect">
            <a:avLst/>
          </a:prstGeom>
          <a:solidFill>
            <a:srgbClr val="EAF2FA"/>
          </a:solidFill>
          <a:ln w="762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6044184" y="199339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Suez Canal University</a:t>
            </a:r>
            <a:endParaRPr lang="en-US" sz="750" dirty="0"/>
          </a:p>
        </p:txBody>
      </p:sp>
      <p:sp>
        <p:nvSpPr>
          <p:cNvPr id="50" name="Shape 44"/>
          <p:cNvSpPr/>
          <p:nvPr/>
        </p:nvSpPr>
        <p:spPr>
          <a:xfrm>
            <a:off x="7488936" y="1993392"/>
            <a:ext cx="1371600" cy="292608"/>
          </a:xfrm>
          <a:prstGeom prst="rect">
            <a:avLst/>
          </a:prstGeom>
          <a:solidFill>
            <a:srgbClr val="EAF2FA"/>
          </a:solidFill>
          <a:ln w="762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7525512" y="199339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American University</a:t>
            </a:r>
            <a:endParaRPr lang="en-US" sz="750" dirty="0"/>
          </a:p>
        </p:txBody>
      </p:sp>
      <p:sp>
        <p:nvSpPr>
          <p:cNvPr id="52" name="Shape 46"/>
          <p:cNvSpPr/>
          <p:nvPr/>
        </p:nvSpPr>
        <p:spPr>
          <a:xfrm>
            <a:off x="4526280" y="2395728"/>
            <a:ext cx="1371600" cy="292608"/>
          </a:xfrm>
          <a:prstGeom prst="rect">
            <a:avLst/>
          </a:prstGeom>
          <a:solidFill>
            <a:srgbClr val="EAF2FA"/>
          </a:solidFill>
          <a:ln w="762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Text 47"/>
          <p:cNvSpPr/>
          <p:nvPr/>
        </p:nvSpPr>
        <p:spPr>
          <a:xfrm>
            <a:off x="4562856" y="239572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Jazan University (KSA)</a:t>
            </a:r>
            <a:endParaRPr lang="en-US" sz="750" dirty="0"/>
          </a:p>
        </p:txBody>
      </p:sp>
      <p:sp>
        <p:nvSpPr>
          <p:cNvPr id="54" name="Shape 48"/>
          <p:cNvSpPr/>
          <p:nvPr/>
        </p:nvSpPr>
        <p:spPr>
          <a:xfrm>
            <a:off x="6007608" y="2395728"/>
            <a:ext cx="1371600" cy="292608"/>
          </a:xfrm>
          <a:prstGeom prst="rect">
            <a:avLst/>
          </a:prstGeom>
          <a:solidFill>
            <a:srgbClr val="EAF2FA"/>
          </a:solidFill>
          <a:ln w="762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Text 49"/>
          <p:cNvSpPr/>
          <p:nvPr/>
        </p:nvSpPr>
        <p:spPr>
          <a:xfrm>
            <a:off x="6044184" y="239572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Russian University Cairo</a:t>
            </a:r>
            <a:endParaRPr lang="en-US" sz="750" dirty="0"/>
          </a:p>
        </p:txBody>
      </p:sp>
      <p:sp>
        <p:nvSpPr>
          <p:cNvPr id="56" name="Shape 50"/>
          <p:cNvSpPr/>
          <p:nvPr/>
        </p:nvSpPr>
        <p:spPr>
          <a:xfrm>
            <a:off x="7488936" y="2395728"/>
            <a:ext cx="1371600" cy="292608"/>
          </a:xfrm>
          <a:prstGeom prst="rect">
            <a:avLst/>
          </a:prstGeom>
          <a:solidFill>
            <a:srgbClr val="EAF2FA"/>
          </a:solidFill>
          <a:ln w="762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ext 51"/>
          <p:cNvSpPr/>
          <p:nvPr/>
        </p:nvSpPr>
        <p:spPr>
          <a:xfrm>
            <a:off x="7525512" y="239572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Damascus University</a:t>
            </a:r>
            <a:endParaRPr lang="en-US" sz="750" dirty="0"/>
          </a:p>
        </p:txBody>
      </p:sp>
      <p:sp>
        <p:nvSpPr>
          <p:cNvPr id="58" name="Shape 52"/>
          <p:cNvSpPr/>
          <p:nvPr/>
        </p:nvSpPr>
        <p:spPr>
          <a:xfrm>
            <a:off x="4526280" y="2798064"/>
            <a:ext cx="1371600" cy="292608"/>
          </a:xfrm>
          <a:prstGeom prst="rect">
            <a:avLst/>
          </a:prstGeom>
          <a:solidFill>
            <a:srgbClr val="F4F7FB"/>
          </a:solidFill>
          <a:ln w="762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ext 53"/>
          <p:cNvSpPr/>
          <p:nvPr/>
        </p:nvSpPr>
        <p:spPr>
          <a:xfrm>
            <a:off x="4562856" y="2798064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Modern Academy</a:t>
            </a:r>
            <a:endParaRPr lang="en-US" sz="750" dirty="0"/>
          </a:p>
        </p:txBody>
      </p:sp>
      <p:sp>
        <p:nvSpPr>
          <p:cNvPr id="60" name="Shape 54"/>
          <p:cNvSpPr/>
          <p:nvPr/>
        </p:nvSpPr>
        <p:spPr>
          <a:xfrm>
            <a:off x="6007608" y="2798064"/>
            <a:ext cx="1371600" cy="292608"/>
          </a:xfrm>
          <a:prstGeom prst="rect">
            <a:avLst/>
          </a:prstGeom>
          <a:solidFill>
            <a:srgbClr val="EAF2FA"/>
          </a:solidFill>
          <a:ln w="762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ext 55"/>
          <p:cNvSpPr/>
          <p:nvPr/>
        </p:nvSpPr>
        <p:spPr>
          <a:xfrm>
            <a:off x="6044184" y="2798064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Pyramids Canadian Univ.</a:t>
            </a:r>
            <a:endParaRPr lang="en-US" sz="750" dirty="0"/>
          </a:p>
        </p:txBody>
      </p:sp>
      <p:sp>
        <p:nvSpPr>
          <p:cNvPr id="62" name="Shape 56"/>
          <p:cNvSpPr/>
          <p:nvPr/>
        </p:nvSpPr>
        <p:spPr>
          <a:xfrm>
            <a:off x="7488936" y="2798064"/>
            <a:ext cx="1371600" cy="292608"/>
          </a:xfrm>
          <a:prstGeom prst="rect">
            <a:avLst/>
          </a:prstGeom>
          <a:solidFill>
            <a:srgbClr val="EAF2FA"/>
          </a:solidFill>
          <a:ln w="762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Text 57"/>
          <p:cNvSpPr/>
          <p:nvPr/>
        </p:nvSpPr>
        <p:spPr>
          <a:xfrm>
            <a:off x="7525512" y="2798064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October 6 University</a:t>
            </a:r>
            <a:endParaRPr lang="en-US" sz="750" dirty="0"/>
          </a:p>
        </p:txBody>
      </p:sp>
      <p:sp>
        <p:nvSpPr>
          <p:cNvPr id="64" name="Shape 58"/>
          <p:cNvSpPr/>
          <p:nvPr/>
        </p:nvSpPr>
        <p:spPr>
          <a:xfrm>
            <a:off x="4526280" y="3200400"/>
            <a:ext cx="1371600" cy="292608"/>
          </a:xfrm>
          <a:prstGeom prst="rect">
            <a:avLst/>
          </a:prstGeom>
          <a:solidFill>
            <a:srgbClr val="F4F7FB"/>
          </a:solidFill>
          <a:ln w="762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5" name="Text 59"/>
          <p:cNvSpPr/>
          <p:nvPr/>
        </p:nvSpPr>
        <p:spPr>
          <a:xfrm>
            <a:off x="4562856" y="3200400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Arab Contractors Co.</a:t>
            </a:r>
            <a:endParaRPr lang="en-US" sz="750" dirty="0"/>
          </a:p>
        </p:txBody>
      </p:sp>
      <p:sp>
        <p:nvSpPr>
          <p:cNvPr id="66" name="Shape 60"/>
          <p:cNvSpPr/>
          <p:nvPr/>
        </p:nvSpPr>
        <p:spPr>
          <a:xfrm>
            <a:off x="6007608" y="3200400"/>
            <a:ext cx="1371600" cy="292608"/>
          </a:xfrm>
          <a:prstGeom prst="rect">
            <a:avLst/>
          </a:prstGeom>
          <a:solidFill>
            <a:srgbClr val="F4F7FB"/>
          </a:solidFill>
          <a:ln w="762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Text 61"/>
          <p:cNvSpPr/>
          <p:nvPr/>
        </p:nvSpPr>
        <p:spPr>
          <a:xfrm>
            <a:off x="6044184" y="3200400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Talaat Moustafa Group</a:t>
            </a:r>
            <a:endParaRPr lang="en-US" sz="750" dirty="0"/>
          </a:p>
        </p:txBody>
      </p:sp>
      <p:sp>
        <p:nvSpPr>
          <p:cNvPr id="68" name="Shape 62"/>
          <p:cNvSpPr/>
          <p:nvPr/>
        </p:nvSpPr>
        <p:spPr>
          <a:xfrm>
            <a:off x="7488936" y="3200400"/>
            <a:ext cx="1371600" cy="292608"/>
          </a:xfrm>
          <a:prstGeom prst="rect">
            <a:avLst/>
          </a:prstGeom>
          <a:solidFill>
            <a:srgbClr val="F4F7FB"/>
          </a:solidFill>
          <a:ln w="762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9" name="Text 63"/>
          <p:cNvSpPr/>
          <p:nvPr/>
        </p:nvSpPr>
        <p:spPr>
          <a:xfrm>
            <a:off x="7525512" y="3200400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Petrojet Company</a:t>
            </a:r>
            <a:endParaRPr lang="en-US" sz="750" dirty="0"/>
          </a:p>
        </p:txBody>
      </p:sp>
      <p:sp>
        <p:nvSpPr>
          <p:cNvPr id="70" name="Shape 64"/>
          <p:cNvSpPr/>
          <p:nvPr/>
        </p:nvSpPr>
        <p:spPr>
          <a:xfrm>
            <a:off x="4526280" y="3602736"/>
            <a:ext cx="1371600" cy="292608"/>
          </a:xfrm>
          <a:prstGeom prst="rect">
            <a:avLst/>
          </a:prstGeom>
          <a:solidFill>
            <a:srgbClr val="F4F7FB"/>
          </a:solidFill>
          <a:ln w="762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1" name="Text 65"/>
          <p:cNvSpPr/>
          <p:nvPr/>
        </p:nvSpPr>
        <p:spPr>
          <a:xfrm>
            <a:off x="4562856" y="3602736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Housing &amp; Utilities Ministry</a:t>
            </a:r>
            <a:endParaRPr lang="en-US" sz="750" dirty="0"/>
          </a:p>
        </p:txBody>
      </p:sp>
      <p:sp>
        <p:nvSpPr>
          <p:cNvPr id="72" name="Shape 66"/>
          <p:cNvSpPr/>
          <p:nvPr/>
        </p:nvSpPr>
        <p:spPr>
          <a:xfrm>
            <a:off x="6007608" y="3602736"/>
            <a:ext cx="1371600" cy="292608"/>
          </a:xfrm>
          <a:prstGeom prst="rect">
            <a:avLst/>
          </a:prstGeom>
          <a:solidFill>
            <a:srgbClr val="F4F7FB"/>
          </a:solidFill>
          <a:ln w="762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3" name="Text 67"/>
          <p:cNvSpPr/>
          <p:nvPr/>
        </p:nvSpPr>
        <p:spPr>
          <a:xfrm>
            <a:off x="6044184" y="3602736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Nuclear Power Authority</a:t>
            </a:r>
            <a:endParaRPr lang="en-US" sz="750" dirty="0"/>
          </a:p>
        </p:txBody>
      </p:sp>
      <p:sp>
        <p:nvSpPr>
          <p:cNvPr id="74" name="Shape 68"/>
          <p:cNvSpPr/>
          <p:nvPr/>
        </p:nvSpPr>
        <p:spPr>
          <a:xfrm>
            <a:off x="7488936" y="3602736"/>
            <a:ext cx="1371600" cy="292608"/>
          </a:xfrm>
          <a:prstGeom prst="rect">
            <a:avLst/>
          </a:prstGeom>
          <a:solidFill>
            <a:srgbClr val="F4F7FB"/>
          </a:solidFill>
          <a:ln w="762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5" name="Text 69"/>
          <p:cNvSpPr/>
          <p:nvPr/>
        </p:nvSpPr>
        <p:spPr>
          <a:xfrm>
            <a:off x="7525512" y="3602736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Vinci (France)</a:t>
            </a:r>
            <a:endParaRPr lang="en-US" sz="750" dirty="0"/>
          </a:p>
        </p:txBody>
      </p:sp>
      <p:sp>
        <p:nvSpPr>
          <p:cNvPr id="76" name="Shape 70"/>
          <p:cNvSpPr/>
          <p:nvPr/>
        </p:nvSpPr>
        <p:spPr>
          <a:xfrm>
            <a:off x="4526280" y="4005072"/>
            <a:ext cx="1371600" cy="292608"/>
          </a:xfrm>
          <a:prstGeom prst="rect">
            <a:avLst/>
          </a:prstGeom>
          <a:solidFill>
            <a:srgbClr val="F4F7FB"/>
          </a:solidFill>
          <a:ln w="762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7" name="Text 71"/>
          <p:cNvSpPr/>
          <p:nvPr/>
        </p:nvSpPr>
        <p:spPr>
          <a:xfrm>
            <a:off x="4562856" y="400507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Engineers Syndicate Egypt</a:t>
            </a:r>
            <a:endParaRPr lang="en-US" sz="750" dirty="0"/>
          </a:p>
        </p:txBody>
      </p:sp>
      <p:sp>
        <p:nvSpPr>
          <p:cNvPr id="78" name="Shape 72"/>
          <p:cNvSpPr/>
          <p:nvPr/>
        </p:nvSpPr>
        <p:spPr>
          <a:xfrm>
            <a:off x="6007608" y="4005072"/>
            <a:ext cx="1371600" cy="292608"/>
          </a:xfrm>
          <a:prstGeom prst="rect">
            <a:avLst/>
          </a:prstGeom>
          <a:solidFill>
            <a:srgbClr val="F4F7FB"/>
          </a:solidFill>
          <a:ln w="762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9" name="Text 73"/>
          <p:cNvSpPr/>
          <p:nvPr/>
        </p:nvSpPr>
        <p:spPr>
          <a:xfrm>
            <a:off x="6044184" y="400507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Industrial Training Council</a:t>
            </a:r>
            <a:endParaRPr lang="en-US" sz="750" dirty="0"/>
          </a:p>
        </p:txBody>
      </p:sp>
      <p:sp>
        <p:nvSpPr>
          <p:cNvPr id="80" name="Shape 74"/>
          <p:cNvSpPr/>
          <p:nvPr/>
        </p:nvSpPr>
        <p:spPr>
          <a:xfrm>
            <a:off x="7488936" y="4005072"/>
            <a:ext cx="1371600" cy="292608"/>
          </a:xfrm>
          <a:prstGeom prst="rect">
            <a:avLst/>
          </a:prstGeom>
          <a:solidFill>
            <a:srgbClr val="EAF2FA"/>
          </a:solidFill>
          <a:ln w="7620">
            <a:solidFill>
              <a:srgbClr val="086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1" name="Text 75"/>
          <p:cNvSpPr/>
          <p:nvPr/>
        </p:nvSpPr>
        <p:spPr>
          <a:xfrm>
            <a:off x="7525512" y="400507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11111"/>
                </a:solidFill>
              </a:rPr>
              <a:t>Sudan University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487</Words>
  <Application>Microsoft Office PowerPoint</Application>
  <PresentationFormat>On-screen Show (16:9)</PresentationFormat>
  <Paragraphs>101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ICEMT – Website Development Project</dc:title>
  <dc:subject>PptxGenJS Presentation</dc:subject>
  <dc:creator>PptxGenJS</dc:creator>
  <cp:lastModifiedBy>Yasmina Maged</cp:lastModifiedBy>
  <cp:revision>6</cp:revision>
  <dcterms:created xsi:type="dcterms:W3CDTF">2026-03-31T12:29:50Z</dcterms:created>
  <dcterms:modified xsi:type="dcterms:W3CDTF">2026-04-01T11:57:58Z</dcterms:modified>
</cp:coreProperties>
</file>